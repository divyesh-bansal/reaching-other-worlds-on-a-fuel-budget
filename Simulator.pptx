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Arimo"/>
      <p:regular r:id="rId39"/>
      <p:bold r:id="rId40"/>
      <p:italic r:id="rId41"/>
      <p:boldItalic r:id="rId42"/>
    </p:embeddedFont>
    <p:embeddedFont>
      <p:font typeface="Azeret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67A7F1-BE2C-4222-A911-D4A0DDD2A3CF}">
  <a:tblStyle styleId="{0B67A7F1-BE2C-4222-A911-D4A0DDD2A3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bold.fntdata"/><Relationship Id="rId20" Type="http://schemas.openxmlformats.org/officeDocument/2006/relationships/slide" Target="slides/slide14.xml"/><Relationship Id="rId42" Type="http://schemas.openxmlformats.org/officeDocument/2006/relationships/font" Target="fonts/Arimo-boldItalic.fntdata"/><Relationship Id="rId41" Type="http://schemas.openxmlformats.org/officeDocument/2006/relationships/font" Target="fonts/Arimo-italic.fntdata"/><Relationship Id="rId22" Type="http://schemas.openxmlformats.org/officeDocument/2006/relationships/slide" Target="slides/slide16.xml"/><Relationship Id="rId44" Type="http://schemas.openxmlformats.org/officeDocument/2006/relationships/font" Target="fonts/AzeretMono-bold.fntdata"/><Relationship Id="rId21" Type="http://schemas.openxmlformats.org/officeDocument/2006/relationships/slide" Target="slides/slide15.xml"/><Relationship Id="rId43" Type="http://schemas.openxmlformats.org/officeDocument/2006/relationships/font" Target="fonts/AzeretMono-regular.fntdata"/><Relationship Id="rId24" Type="http://schemas.openxmlformats.org/officeDocument/2006/relationships/slide" Target="slides/slide18.xml"/><Relationship Id="rId46" Type="http://schemas.openxmlformats.org/officeDocument/2006/relationships/font" Target="fonts/AzeretMono-boldItalic.fntdata"/><Relationship Id="rId23" Type="http://schemas.openxmlformats.org/officeDocument/2006/relationships/slide" Target="slides/slide17.xml"/><Relationship Id="rId45" Type="http://schemas.openxmlformats.org/officeDocument/2006/relationships/font" Target="fonts/Azeret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Arim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26550ac7d_9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f26550ac7d_9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670da61f_6_0)">
  <p:cSld name="Generated (g3f2670da61f_6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2.jp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42.png"/><Relationship Id="rId5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53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54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5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4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Relationship Id="rId4" Type="http://schemas.openxmlformats.org/officeDocument/2006/relationships/image" Target="../media/image5.png"/><Relationship Id="rId5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99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137200" y="263275"/>
            <a:ext cx="72285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Reaching Other Worlds on a Fuel Budget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1796850" y="1989600"/>
            <a:ext cx="8376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zeret Mono"/>
                <a:ea typeface="Azeret Mono"/>
                <a:cs typeface="Azeret Mono"/>
                <a:sym typeface="Azeret Mono"/>
              </a:rPr>
              <a:t>An Orbital Mechanics Simulator for Hohmann Transfers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2854350" y="5952900"/>
            <a:ext cx="57942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Divyesh Bansal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4th year BTech Computer Science and </a:t>
            </a:r>
            <a:r>
              <a:rPr lang="en-US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Engineering</a:t>
            </a:r>
            <a:r>
              <a:rPr lang="en-US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, IIT Roorkee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1625" y="2445554"/>
            <a:ext cx="5968749" cy="3351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571500" y="2260413"/>
            <a:ext cx="959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How do we get a spacecraft from one orbit to another using the least fuel possible?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1047750" y="3539579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In space there is no "straight line to Mars."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1047750" y="4173884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Every kilogram of fuel must be launched off Earth at enormous cost.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047750" y="4808190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path you choose decides whether a mission is possible at all.</a:t>
            </a:r>
            <a:endParaRPr/>
          </a:p>
        </p:txBody>
      </p:sp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0625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405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7486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The Big Question: Changing Orbits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1152362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1047750" y="2481411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rocket can only carry a fixed amount of propellant.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1047750" y="3115716"/>
            <a:ext cx="105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Once it's gone, you cannot refuel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there are no gas stations in orbit.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1047750" y="3750025"/>
            <a:ext cx="861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Mission designers measure everything in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delta-v (Δv)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: the total change in velocity a spacecraft can produce.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1047750" y="4780508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Δv is the real "budget" of a space mission. Spend it wisely or the mission fails.</a:t>
            </a:r>
            <a:endParaRPr/>
          </a:p>
        </p:txBody>
      </p:sp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80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823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66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4718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Why Fuel Is Everything in Space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1241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1047750" y="1894725"/>
            <a:ext cx="8992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An orbit is a balance between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gravity pulling inward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sideways speed carrying you forward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047750" y="2925216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Go fast enough sideways and you keep "falling around" the planet instead of into it.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047750" y="3607147"/>
            <a:ext cx="1057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Different altitudes need different speeds: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047750" y="5367188"/>
            <a:ext cx="105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To change orbit, you must change speed and that costs Δv.</a:t>
            </a:r>
            <a:endParaRPr/>
          </a:p>
        </p:txBody>
      </p:sp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14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18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2619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714500" y="4098577"/>
            <a:ext cx="9906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Low orbit (400 km): ~7.7 km/s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714500" y="4732883"/>
            <a:ext cx="9906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Geostationary (35,786 km): ~3.1 km/s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43386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8250" y="4212877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8250" y="4847183"/>
            <a:ext cx="1428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What Keeps a Satellite in Orbit?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71100" y="1184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1047750" y="2679501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You cannot simply "drive" from a low orbit to a high one.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1047750" y="3313807"/>
            <a:ext cx="105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Firing your engine doesn't move you outward instantly 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it reshapes your entire orbit.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047750" y="3948112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single push stretches a circle into an ellipse.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047750" y="458241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The challenge: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how do you connect two circular orbits efficiently?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617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The Problem with Changing Orbits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52100" y="1222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1047750" y="1689050"/>
            <a:ext cx="476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Proposed by Walter Hohmann in 1925  decades before spaceflight existed.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047750" y="2719525"/>
            <a:ext cx="4077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It uses just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two engine burns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and one long coast.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1047750" y="3750025"/>
            <a:ext cx="40776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It is the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most fuel-efficient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way to move between two circular orbits in the same plane.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047750" y="5176700"/>
            <a:ext cx="4255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Still the backbone of real mission design 100 years later.</a:t>
            </a:r>
            <a:endParaRPr/>
          </a:p>
        </p:txBody>
      </p:sp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5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621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66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24336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The Elegant Answer: Hohmann Transfer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42625" y="1175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6125" y="2141275"/>
            <a:ext cx="5514848" cy="31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1047750" y="2085225"/>
            <a:ext cx="4077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Burn once to stretch your circular orbit into an ellipse.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047750" y="3115725"/>
            <a:ext cx="4077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low point of the ellipse touches your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start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orbit.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047750" y="4146202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high point touches your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target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orbit.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047750" y="4780508"/>
            <a:ext cx="476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You coast halfway around this ellipse 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engines off 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letting gravity do the work.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19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823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128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4718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How It Works: The Transfer Ellipse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1311912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6125" y="2141275"/>
            <a:ext cx="5514848" cy="31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1047750" y="2996654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At the starting orbit you fire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prograde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(in the direction of motion).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47750" y="3630959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raises the far side of your orbit out to the target altitude.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047750" y="4265265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You are now on the transfer ellipse, coasting upward and slowing down as you climb.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332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763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3194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571500"/>
            <a:ext cx="11601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Burn 1: Climbing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633125" y="1251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1047750" y="2679501"/>
            <a:ext cx="105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During the coast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, the engine is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off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1047750" y="331380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Gravity trades your speed for altitude on the way up.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047750" y="3948112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coast can take hours (satellites) or years (outer planets).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047750" y="4582417"/>
            <a:ext cx="105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No fuel is spent 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only patience.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617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The Coast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71500" y="1115612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1047750" y="2996654"/>
            <a:ext cx="105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At the high point you are moving too slowly to stay there you'd fall back.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047750" y="3630959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second prograde burn speeds you up to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circularize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at the new orbit.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047750" y="4265265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Mission complete: you've moved between two orbits with minimal fuel.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332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76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3194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Burn 2: Arriving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571500" y="1194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8847"/>
            <a:ext cx="5238750" cy="105191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571500" y="1382166"/>
            <a:ext cx="5238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master equation of orbital speed: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71500" y="570086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single equation gives the speed at any point on any orbit — circular or elliptical.</a:t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 rotWithShape="1">
          <a:blip r:embed="rId5">
            <a:alphaModFix/>
          </a:blip>
          <a:srcRect b="1105" l="0" r="0" t="1105"/>
          <a:stretch/>
        </p:blipFill>
        <p:spPr>
          <a:xfrm>
            <a:off x="2370980" y="2273647"/>
            <a:ext cx="1639639" cy="44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1047750" y="3401764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μ = gravitational parameter of the central body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1047750" y="4432250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 = current distance from the center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1047750" y="5066555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= semi-major axis (size) of the orbit</a:t>
            </a:r>
            <a:endParaRPr/>
          </a:p>
        </p:txBody>
      </p:sp>
      <p:pic>
        <p:nvPicPr>
          <p:cNvPr descr="image.png" id="238" name="Google Shape;2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6843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8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33230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71500" y="343941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Physics: Vis-Viva Equation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71500" y="938429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1825" y="2273650"/>
            <a:ext cx="5551952" cy="31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079713" y="1170067"/>
            <a:ext cx="476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Circular orbit speed: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1079713" y="2649571"/>
            <a:ext cx="47625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On the transfer ellipse you move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faster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than circular at the bottom,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slower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at the top.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047750" y="3981450"/>
            <a:ext cx="4762500" cy="68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two burns simply bridge those speed gaps:</a:t>
            </a:r>
            <a:endParaRPr/>
          </a:p>
        </p:txBody>
      </p:sp>
      <p:pic>
        <p:nvPicPr>
          <p:cNvPr descr="image.png" id="252" name="Google Shape;2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63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3373" y="1667172"/>
            <a:ext cx="971252" cy="439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38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005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714500" y="4869060"/>
            <a:ext cx="40957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Δv₁ = speed needed to jump onto the ellipse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714500" y="5899546"/>
            <a:ext cx="40957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Δv₂ = speed needed to circularize at the top</a:t>
            </a:r>
            <a:endParaRPr/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250" y="4983360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250" y="6013846"/>
            <a:ext cx="1428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571500" y="242518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Physics: Circular &amp; Transfer Speeds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71500" y="856404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1825" y="2273650"/>
            <a:ext cx="5551952" cy="31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571500" y="1267866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Orbital period:</a:t>
            </a:r>
            <a:endParaRPr/>
          </a:p>
        </p:txBody>
      </p:sp>
      <p:pic>
        <p:nvPicPr>
          <p:cNvPr descr="image.png" id="269" name="Google Shape;2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8464" y="2302222"/>
            <a:ext cx="1515070" cy="56405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1047750" y="3552080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transfer takes exactly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half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of the ellipse's period.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047750" y="4234011"/>
            <a:ext cx="1057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is why distance dramatically increases travel time:</a:t>
            </a:r>
            <a:endParaRPr/>
          </a:p>
        </p:txBody>
      </p:sp>
      <p:pic>
        <p:nvPicPr>
          <p:cNvPr descr="image.png" id="272" name="Google Shape;27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87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5306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1714500" y="4725441"/>
            <a:ext cx="9906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To GEO: about 5 hours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1714500" y="5359747"/>
            <a:ext cx="9906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To Mars: about 8.5 months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1714500" y="5994052"/>
            <a:ext cx="9906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To Jupiter: about 2.7 years</a:t>
            </a:r>
            <a:endParaRPr/>
          </a:p>
        </p:txBody>
      </p:sp>
      <p:pic>
        <p:nvPicPr>
          <p:cNvPr descr="image.png" id="277" name="Google Shape;27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250" y="4839741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250" y="5474047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250" y="6108352"/>
            <a:ext cx="1428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571500" y="229641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Physics: Kepler's Third Law</a:t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571500" y="814629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1047750" y="2085230"/>
            <a:ext cx="476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To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tal Transfer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Δv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= Δv₁ + Δv₂.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1047750" y="2719525"/>
            <a:ext cx="4125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Every maneuver "spends" from a fixed Δv budget set at launch.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1047750" y="3750022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More Δv = more fuel = bigger, more expensive rocket.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1047750" y="4780500"/>
            <a:ext cx="43380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Minimizing Δv is the difference between a feasible mission and an impossible one.</a:t>
            </a:r>
            <a:endParaRPr/>
          </a:p>
        </p:txBody>
      </p:sp>
      <p:pic>
        <p:nvPicPr>
          <p:cNvPr descr="image.png" id="291" name="Google Shape;2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19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621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66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4718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Delta-v: The Currency of Spaceflight</a:t>
            </a: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614125" y="1175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0498" y="2198639"/>
            <a:ext cx="5923276" cy="33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571500" y="1894730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Tsiolkovsky's rocket equation:</a:t>
            </a:r>
            <a:endParaRPr/>
          </a:p>
        </p:txBody>
      </p:sp>
      <p:pic>
        <p:nvPicPr>
          <p:cNvPr descr="image.png" id="304" name="Google Shape;30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8250" y="2929086"/>
            <a:ext cx="3035498" cy="48369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8"/>
          <p:cNvSpPr txBox="1"/>
          <p:nvPr/>
        </p:nvSpPr>
        <p:spPr>
          <a:xfrm>
            <a:off x="1047750" y="409857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Fuel mass grows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exponentially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with required Δv.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1047750" y="4732883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small Δv saving can mean tons less propellant.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1047750" y="5367188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is exactly why the fuel-optimal Hohmann transfer matters so much.</a:t>
            </a:r>
            <a:endParaRPr/>
          </a:p>
        </p:txBody>
      </p:sp>
      <p:pic>
        <p:nvPicPr>
          <p:cNvPr descr="image.png" id="308" name="Google Shape;30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6525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995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43386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Why Δv Means Fuel: Rocket Equation</a:t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642600" y="1203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1047750" y="2679501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Among all two-burn transfers between circular orbits, Hohmann uses the least Δv.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1047750" y="331380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It puts both burns where they are most effective.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1047750" y="3948112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For nearly every practical mission, it is the efficient default.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1047750" y="458241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But there is a fascinating exception...</a:t>
            </a:r>
            <a:endParaRPr/>
          </a:p>
        </p:txBody>
      </p:sp>
      <p:pic>
        <p:nvPicPr>
          <p:cNvPr descr="image.png" id="322" name="Google Shape;32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617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Why Hohmann Is (Usually) Optimal</a:t>
            </a:r>
            <a:endParaRPr/>
          </a:p>
        </p:txBody>
      </p:sp>
      <p:sp>
        <p:nvSpPr>
          <p:cNvPr id="327" name="Google Shape;327;p29"/>
          <p:cNvSpPr/>
          <p:nvPr/>
        </p:nvSpPr>
        <p:spPr>
          <a:xfrm>
            <a:off x="628475" y="1181962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 txBox="1"/>
          <p:nvPr/>
        </p:nvSpPr>
        <p:spPr>
          <a:xfrm>
            <a:off x="1047750" y="1887150"/>
            <a:ext cx="4314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For interplanetary trips, the destination is a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moving target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1047750" y="2917626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planet must be at the right place so you both arrive at the same point.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1047750" y="3948112"/>
            <a:ext cx="47625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sets a required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phase angle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between departure and target at launch.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1047750" y="4978600"/>
            <a:ext cx="3817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For Earth 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to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Mars, Mars must lead Earth by about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44°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/>
          </a:p>
        </p:txBody>
      </p:sp>
      <p:pic>
        <p:nvPicPr>
          <p:cNvPr descr="image.png" id="337" name="Google Shape;33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381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8430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45273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Launch Windows: Wait For Alignment</a:t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571500" y="1113712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7100" y="2495775"/>
            <a:ext cx="4901276" cy="275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1047750" y="1887150"/>
            <a:ext cx="4314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After a missed window, you must wait for the geometry to repeat.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1047750" y="2917625"/>
            <a:ext cx="4361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Earth–Mars alignment repeats only about every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780 days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(~26 months).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1047750" y="3948100"/>
            <a:ext cx="4361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is why real Mars missions launch in tight, widely spaced windows.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1047750" y="4978598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My simulator computes this automatically for any pair of orbits.</a:t>
            </a:r>
            <a:endParaRPr/>
          </a:p>
        </p:txBody>
      </p:sp>
      <p:pic>
        <p:nvPicPr>
          <p:cNvPr descr="image.png" id="353" name="Google Shape;35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38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843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4527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The Synodic Period</a:t>
            </a:r>
            <a:endParaRPr/>
          </a:p>
        </p:txBody>
      </p:sp>
      <p:sp>
        <p:nvSpPr>
          <p:cNvPr id="358" name="Google Shape;358;p31"/>
          <p:cNvSpPr/>
          <p:nvPr/>
        </p:nvSpPr>
        <p:spPr>
          <a:xfrm>
            <a:off x="571500" y="1165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576" y="2302050"/>
            <a:ext cx="5317100" cy="29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2"/>
          <p:cNvSpPr txBox="1"/>
          <p:nvPr/>
        </p:nvSpPr>
        <p:spPr>
          <a:xfrm>
            <a:off x="571500" y="2360414"/>
            <a:ext cx="11601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Bi-Elliptic Transfers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1047750" y="2998589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For very large orbit changes, a clever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three-burn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path can beat Hohmann.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1047750" y="3632894"/>
            <a:ext cx="105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It swings far beyond the target, then drops back saving Δv.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1047750" y="4267200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trade: it takes far longer.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1047750" y="4901505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real example of the elegant trade-offs in mission design.</a:t>
            </a:r>
            <a:endParaRPr/>
          </a:p>
        </p:txBody>
      </p:sp>
      <p:pic>
        <p:nvPicPr>
          <p:cNvPr descr="image.png" id="370" name="Google Shape;37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526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95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33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6818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When Hohmann Isn't Best</a:t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571500" y="1085862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/>
        </p:nvSpPr>
        <p:spPr>
          <a:xfrm>
            <a:off x="1047750" y="2402383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Mathematics shows the exact tipping point: orbit ratio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r₂/r₁ ≈ 11.94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/>
          </a:p>
        </p:txBody>
      </p:sp>
      <p:sp>
        <p:nvSpPr>
          <p:cNvPr id="382" name="Google Shape;382;p33"/>
          <p:cNvSpPr txBox="1"/>
          <p:nvPr/>
        </p:nvSpPr>
        <p:spPr>
          <a:xfrm>
            <a:off x="1047750" y="3432869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Below it: Hohmann wins. Above it: bi-elliptic can win.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1047750" y="4463355"/>
            <a:ext cx="476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My LEO </a:t>
            </a:r>
            <a:r>
              <a:rPr lang="en-US" sz="19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to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Lunar scenario (ratio ≈ 57) is flagged as a bi-elliptic-favorable case.</a:t>
            </a:r>
            <a:endParaRPr/>
          </a:p>
        </p:txBody>
      </p:sp>
      <p:pic>
        <p:nvPicPr>
          <p:cNvPr descr="image.png" id="384" name="Google Shape;3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905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9954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003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The 11.94 Cross-Over</a:t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633125" y="1203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9910" y="2402375"/>
            <a:ext cx="5661364" cy="318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4" name="Google Shape;3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 txBox="1"/>
          <p:nvPr/>
        </p:nvSpPr>
        <p:spPr>
          <a:xfrm>
            <a:off x="1047750" y="1887140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from-scratch physics engine + animated visualizer.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1047750" y="2917626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Computes Δv, travel time, phase angle, and synodic period for any transfer.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1047750" y="3948112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Renders the spacecraft, orbits, burns, and live data as an animation.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1047750" y="4978598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Built and validated against textbook and real-mission numbers.</a:t>
            </a:r>
            <a:endParaRPr/>
          </a:p>
        </p:txBody>
      </p:sp>
      <p:pic>
        <p:nvPicPr>
          <p:cNvPr descr="image.png" id="399" name="Google Shape;39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381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8430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45273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My Project: Interactive Simulator</a:t>
            </a:r>
            <a:endParaRPr/>
          </a:p>
        </p:txBody>
      </p:sp>
      <p:sp>
        <p:nvSpPr>
          <p:cNvPr id="404" name="Google Shape;404;p34"/>
          <p:cNvSpPr/>
          <p:nvPr/>
        </p:nvSpPr>
        <p:spPr>
          <a:xfrm>
            <a:off x="571500" y="1213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0100" y="2447332"/>
            <a:ext cx="5171553" cy="290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 txBox="1"/>
          <p:nvPr/>
        </p:nvSpPr>
        <p:spPr>
          <a:xfrm>
            <a:off x="1047750" y="2283325"/>
            <a:ext cx="4219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Moves satellites from a low parking orbit up to geostationary altitude.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1047750" y="3313807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Δv ≈ 3,857 m/s</a:t>
            </a:r>
            <a:endParaRPr/>
          </a:p>
        </p:txBody>
      </p:sp>
      <p:sp>
        <p:nvSpPr>
          <p:cNvPr id="413" name="Google Shape;413;p35"/>
          <p:cNvSpPr txBox="1"/>
          <p:nvPr/>
        </p:nvSpPr>
        <p:spPr>
          <a:xfrm>
            <a:off x="1047750" y="3948112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Travel time ≈ 5.3 hours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1047750" y="4582425"/>
            <a:ext cx="42198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This is the exact maneuver used to place TV, weather, and comms satellites.</a:t>
            </a:r>
            <a:endParaRPr/>
          </a:p>
        </p:txBody>
      </p:sp>
      <p:pic>
        <p:nvPicPr>
          <p:cNvPr descr="image.png" id="415" name="Google Shape;41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99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Mission 1: LEO → GEO (Comms)</a:t>
            </a:r>
            <a:endParaRPr/>
          </a:p>
        </p:txBody>
      </p:sp>
      <p:sp>
        <p:nvSpPr>
          <p:cNvPr id="420" name="Google Shape;420;p35"/>
          <p:cNvSpPr/>
          <p:nvPr/>
        </p:nvSpPr>
        <p:spPr>
          <a:xfrm>
            <a:off x="571500" y="1203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35" title="leo_geo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6225" y="2597644"/>
            <a:ext cx="5171579" cy="29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1047750" y="2283325"/>
            <a:ext cx="4255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classic heliocentric Hohmann transfer to the Red Planet.</a:t>
            </a:r>
            <a:endParaRPr/>
          </a:p>
        </p:txBody>
      </p:sp>
      <p:sp>
        <p:nvSpPr>
          <p:cNvPr id="428" name="Google Shape;428;p36"/>
          <p:cNvSpPr txBox="1"/>
          <p:nvPr/>
        </p:nvSpPr>
        <p:spPr>
          <a:xfrm>
            <a:off x="1047750" y="3313807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Δv ≈ 5,596 m/s</a:t>
            </a:r>
            <a:endParaRPr/>
          </a:p>
        </p:txBody>
      </p:sp>
      <p:sp>
        <p:nvSpPr>
          <p:cNvPr id="429" name="Google Shape;429;p36"/>
          <p:cNvSpPr txBox="1"/>
          <p:nvPr/>
        </p:nvSpPr>
        <p:spPr>
          <a:xfrm>
            <a:off x="1047750" y="3948112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Travel time ≈ 259 days</a:t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1047750" y="4582425"/>
            <a:ext cx="4409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same physics that sends rovers like Perseverance to Mars.</a:t>
            </a:r>
            <a:endParaRPr/>
          </a:p>
        </p:txBody>
      </p:sp>
      <p:pic>
        <p:nvPicPr>
          <p:cNvPr descr="image.png" id="431" name="Google Shape;43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99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Mission 2: Earth → Mars</a:t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>
            <a:off x="571500" y="1146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36" title="earth_mars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5975" y="2540312"/>
            <a:ext cx="5719574" cy="321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2" name="Google Shape;44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7"/>
          <p:cNvSpPr txBox="1"/>
          <p:nvPr/>
        </p:nvSpPr>
        <p:spPr>
          <a:xfrm>
            <a:off x="1047750" y="2283325"/>
            <a:ext cx="4148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Sends a spacecraft from low Earth orbit out to the Moon's distance.</a:t>
            </a:r>
            <a:endParaRPr/>
          </a:p>
        </p:txBody>
      </p:sp>
      <p:sp>
        <p:nvSpPr>
          <p:cNvPr id="444" name="Google Shape;444;p37"/>
          <p:cNvSpPr txBox="1"/>
          <p:nvPr/>
        </p:nvSpPr>
        <p:spPr>
          <a:xfrm>
            <a:off x="1047750" y="3313807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Δv ≈ 3,913 m/s</a:t>
            </a:r>
            <a:endParaRPr/>
          </a:p>
        </p:txBody>
      </p:sp>
      <p:sp>
        <p:nvSpPr>
          <p:cNvPr id="445" name="Google Shape;445;p37"/>
          <p:cNvSpPr txBox="1"/>
          <p:nvPr/>
        </p:nvSpPr>
        <p:spPr>
          <a:xfrm>
            <a:off x="1047750" y="3948112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Travel time ≈ 5 days</a:t>
            </a:r>
            <a:endParaRPr/>
          </a:p>
        </p:txBody>
      </p:sp>
      <p:sp>
        <p:nvSpPr>
          <p:cNvPr id="446" name="Google Shape;446;p37"/>
          <p:cNvSpPr txBox="1"/>
          <p:nvPr/>
        </p:nvSpPr>
        <p:spPr>
          <a:xfrm>
            <a:off x="1047750" y="4582425"/>
            <a:ext cx="4266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translunar injection that carried Apollo astronauts to the Moon.</a:t>
            </a:r>
            <a:endParaRPr/>
          </a:p>
        </p:txBody>
      </p:sp>
      <p:pic>
        <p:nvPicPr>
          <p:cNvPr descr="image.png" id="447" name="Google Shape;44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9996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Mission 3: LEO → Lunar Distance</a:t>
            </a: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571500" y="1137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5050" y="2350001"/>
            <a:ext cx="5576025" cy="31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8" name="Google Shape;4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8"/>
          <p:cNvSpPr txBox="1"/>
          <p:nvPr/>
        </p:nvSpPr>
        <p:spPr>
          <a:xfrm>
            <a:off x="1047750" y="2085225"/>
            <a:ext cx="41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transfer all the way to the outer solar system.</a:t>
            </a:r>
            <a:endParaRPr/>
          </a:p>
        </p:txBody>
      </p:sp>
      <p:sp>
        <p:nvSpPr>
          <p:cNvPr id="460" name="Google Shape;460;p38"/>
          <p:cNvSpPr txBox="1"/>
          <p:nvPr/>
        </p:nvSpPr>
        <p:spPr>
          <a:xfrm>
            <a:off x="1047750" y="3115716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Δv ≈ 14,437 m/s</a:t>
            </a:r>
            <a:endParaRPr/>
          </a:p>
        </p:txBody>
      </p:sp>
      <p:sp>
        <p:nvSpPr>
          <p:cNvPr id="461" name="Google Shape;461;p38"/>
          <p:cNvSpPr txBox="1"/>
          <p:nvPr/>
        </p:nvSpPr>
        <p:spPr>
          <a:xfrm>
            <a:off x="1047750" y="3750022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Travel time ≈ 2.7 years</a:t>
            </a:r>
            <a:endParaRPr/>
          </a:p>
        </p:txBody>
      </p:sp>
      <p:sp>
        <p:nvSpPr>
          <p:cNvPr id="462" name="Google Shape;462;p38"/>
          <p:cNvSpPr txBox="1"/>
          <p:nvPr/>
        </p:nvSpPr>
        <p:spPr>
          <a:xfrm>
            <a:off x="1047750" y="4384325"/>
            <a:ext cx="417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Shows how steeply cost and time grow with distance and why real probes use gravity assists.</a:t>
            </a:r>
            <a:endParaRPr/>
          </a:p>
        </p:txBody>
      </p:sp>
      <p:pic>
        <p:nvPicPr>
          <p:cNvPr descr="image.png" id="463" name="Google Shape;46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190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8239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669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5100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8"/>
          <p:cNvSpPr txBox="1"/>
          <p:nvPr/>
        </p:nvSpPr>
        <p:spPr>
          <a:xfrm>
            <a:off x="571500" y="571500"/>
            <a:ext cx="11601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Mission 4: Earth → Jupiter</a:t>
            </a:r>
            <a:endParaRPr/>
          </a:p>
        </p:txBody>
      </p:sp>
      <p:sp>
        <p:nvSpPr>
          <p:cNvPr id="468" name="Google Shape;468;p38"/>
          <p:cNvSpPr/>
          <p:nvPr/>
        </p:nvSpPr>
        <p:spPr>
          <a:xfrm>
            <a:off x="571500" y="1203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6875" y="2399549"/>
            <a:ext cx="5792236" cy="325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4" name="Google Shape;4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9"/>
          <p:cNvSpPr txBox="1"/>
          <p:nvPr/>
        </p:nvSpPr>
        <p:spPr>
          <a:xfrm>
            <a:off x="1047750" y="2283321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Retired satellites are nudged ~300 km above GEO into a "graveyard" orbit.</a:t>
            </a:r>
            <a:endParaRPr/>
          </a:p>
        </p:txBody>
      </p:sp>
      <p:sp>
        <p:nvSpPr>
          <p:cNvPr id="476" name="Google Shape;476;p39"/>
          <p:cNvSpPr txBox="1"/>
          <p:nvPr/>
        </p:nvSpPr>
        <p:spPr>
          <a:xfrm>
            <a:off x="1047750" y="3313807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Δv ≈ 11 m/s</a:t>
            </a:r>
            <a:endParaRPr/>
          </a:p>
        </p:txBody>
      </p:sp>
      <p:sp>
        <p:nvSpPr>
          <p:cNvPr id="477" name="Google Shape;477;p39"/>
          <p:cNvSpPr txBox="1"/>
          <p:nvPr/>
        </p:nvSpPr>
        <p:spPr>
          <a:xfrm>
            <a:off x="1047750" y="3948112"/>
            <a:ext cx="476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Travel time ≈ 12 hours</a:t>
            </a:r>
            <a:endParaRPr/>
          </a:p>
        </p:txBody>
      </p:sp>
      <p:sp>
        <p:nvSpPr>
          <p:cNvPr id="478" name="Google Shape;478;p39"/>
          <p:cNvSpPr txBox="1"/>
          <p:nvPr/>
        </p:nvSpPr>
        <p:spPr>
          <a:xfrm>
            <a:off x="1047750" y="4582417"/>
            <a:ext cx="476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 tiny burn that protects valuable orbital slots real-world debris mitigation.</a:t>
            </a:r>
            <a:endParaRPr/>
          </a:p>
        </p:txBody>
      </p:sp>
      <p:pic>
        <p:nvPicPr>
          <p:cNvPr descr="image.png" id="479" name="Google Shape;47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999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Mission 5: GEO → Graveyard</a:t>
            </a:r>
            <a:endParaRPr/>
          </a:p>
        </p:txBody>
      </p:sp>
      <p:sp>
        <p:nvSpPr>
          <p:cNvPr id="484" name="Google Shape;484;p39"/>
          <p:cNvSpPr/>
          <p:nvPr/>
        </p:nvSpPr>
        <p:spPr>
          <a:xfrm>
            <a:off x="571500" y="1194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0" y="2350001"/>
            <a:ext cx="5541327" cy="31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0" name="Google Shape;49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0"/>
          <p:cNvSpPr/>
          <p:nvPr/>
        </p:nvSpPr>
        <p:spPr>
          <a:xfrm>
            <a:off x="571500" y="1390650"/>
            <a:ext cx="6286500" cy="5114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2" name="Google Shape;492;p40"/>
          <p:cNvGraphicFramePr/>
          <p:nvPr/>
        </p:nvGraphicFramePr>
        <p:xfrm>
          <a:off x="571500" y="1390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{0B67A7F1-BE2C-4222-A911-D4A0DDD2A3CF}</a:tableStyleId>
              </a:tblPr>
              <a:tblGrid>
                <a:gridCol w="1826275"/>
                <a:gridCol w="1330225"/>
                <a:gridCol w="1116950"/>
                <a:gridCol w="2013050"/>
              </a:tblGrid>
              <a:tr h="8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Mission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Δv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Travel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Checks against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340"/>
                    </a:solidFill>
                  </a:tcPr>
                </a:tc>
              </a:tr>
              <a:tr h="8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LEO → GEO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3,857 m/s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5.3 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textbook ~3.9 km/s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Earth → Mars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5,596 m/s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259 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~8.5 months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LEO → Lunar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3,913 m/s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5.0 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Apollo-class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Earth → Jupiter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14,437 m/s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2.7 yr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published values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GEO → Graveyard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11 m/s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12 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debris guidelines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3" name="Google Shape;493;p40"/>
          <p:cNvSpPr/>
          <p:nvPr/>
        </p:nvSpPr>
        <p:spPr>
          <a:xfrm>
            <a:off x="571500" y="2224087"/>
            <a:ext cx="1826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0"/>
          <p:cNvSpPr/>
          <p:nvPr/>
        </p:nvSpPr>
        <p:spPr>
          <a:xfrm>
            <a:off x="2397769" y="2224087"/>
            <a:ext cx="133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3727995" y="2224087"/>
            <a:ext cx="1116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0"/>
          <p:cNvSpPr/>
          <p:nvPr/>
        </p:nvSpPr>
        <p:spPr>
          <a:xfrm>
            <a:off x="4844950" y="2224087"/>
            <a:ext cx="2013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0"/>
          <p:cNvSpPr txBox="1"/>
          <p:nvPr/>
        </p:nvSpPr>
        <p:spPr>
          <a:xfrm>
            <a:off x="7905750" y="2204293"/>
            <a:ext cx="371475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Geostationary period computes to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86,164 s = one sidereal day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(exact).</a:t>
            </a:r>
            <a:endParaRPr/>
          </a:p>
        </p:txBody>
      </p:sp>
      <p:sp>
        <p:nvSpPr>
          <p:cNvPr id="498" name="Google Shape;498;p40"/>
          <p:cNvSpPr txBox="1"/>
          <p:nvPr/>
        </p:nvSpPr>
        <p:spPr>
          <a:xfrm>
            <a:off x="7905750" y="3630959"/>
            <a:ext cx="37147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Earth–Mars synodic period: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779.7 days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vs. accepted 779.9 days.</a:t>
            </a:r>
            <a:endParaRPr/>
          </a:p>
        </p:txBody>
      </p:sp>
      <p:sp>
        <p:nvSpPr>
          <p:cNvPr id="499" name="Google Shape;499;p40"/>
          <p:cNvSpPr txBox="1"/>
          <p:nvPr/>
        </p:nvSpPr>
        <p:spPr>
          <a:xfrm>
            <a:off x="7905750" y="4661445"/>
            <a:ext cx="37147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31 automated tests confirm the physics.</a:t>
            </a:r>
            <a:endParaRPr/>
          </a:p>
        </p:txBody>
      </p:sp>
      <p:sp>
        <p:nvSpPr>
          <p:cNvPr id="500" name="Google Shape;500;p40"/>
          <p:cNvSpPr/>
          <p:nvPr/>
        </p:nvSpPr>
        <p:spPr>
          <a:xfrm>
            <a:off x="571500" y="3071812"/>
            <a:ext cx="1826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0"/>
          <p:cNvSpPr/>
          <p:nvPr/>
        </p:nvSpPr>
        <p:spPr>
          <a:xfrm>
            <a:off x="2397769" y="3071812"/>
            <a:ext cx="133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0"/>
          <p:cNvSpPr/>
          <p:nvPr/>
        </p:nvSpPr>
        <p:spPr>
          <a:xfrm>
            <a:off x="3727995" y="3071812"/>
            <a:ext cx="1116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0"/>
          <p:cNvSpPr/>
          <p:nvPr/>
        </p:nvSpPr>
        <p:spPr>
          <a:xfrm>
            <a:off x="4844950" y="3071812"/>
            <a:ext cx="2013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0"/>
          <p:cNvSpPr/>
          <p:nvPr/>
        </p:nvSpPr>
        <p:spPr>
          <a:xfrm>
            <a:off x="571500" y="3929062"/>
            <a:ext cx="1826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0"/>
          <p:cNvSpPr/>
          <p:nvPr/>
        </p:nvSpPr>
        <p:spPr>
          <a:xfrm>
            <a:off x="2397769" y="3929062"/>
            <a:ext cx="133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0"/>
          <p:cNvSpPr/>
          <p:nvPr/>
        </p:nvSpPr>
        <p:spPr>
          <a:xfrm>
            <a:off x="3727995" y="3929062"/>
            <a:ext cx="1116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0"/>
          <p:cNvSpPr/>
          <p:nvPr/>
        </p:nvSpPr>
        <p:spPr>
          <a:xfrm>
            <a:off x="4844950" y="3929062"/>
            <a:ext cx="2013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0"/>
          <p:cNvSpPr/>
          <p:nvPr/>
        </p:nvSpPr>
        <p:spPr>
          <a:xfrm>
            <a:off x="571500" y="4786312"/>
            <a:ext cx="1826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0"/>
          <p:cNvSpPr/>
          <p:nvPr/>
        </p:nvSpPr>
        <p:spPr>
          <a:xfrm>
            <a:off x="2397769" y="4786312"/>
            <a:ext cx="133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0"/>
          <p:cNvSpPr/>
          <p:nvPr/>
        </p:nvSpPr>
        <p:spPr>
          <a:xfrm>
            <a:off x="3727995" y="4786312"/>
            <a:ext cx="1116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0"/>
          <p:cNvSpPr/>
          <p:nvPr/>
        </p:nvSpPr>
        <p:spPr>
          <a:xfrm>
            <a:off x="4844950" y="4786312"/>
            <a:ext cx="2013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0"/>
          <p:cNvSpPr/>
          <p:nvPr/>
        </p:nvSpPr>
        <p:spPr>
          <a:xfrm>
            <a:off x="571500" y="5643562"/>
            <a:ext cx="1826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2397769" y="5643562"/>
            <a:ext cx="133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3727995" y="5643562"/>
            <a:ext cx="1116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4844950" y="5643562"/>
            <a:ext cx="2013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6" name="Google Shape;51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227096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369763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472812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0"/>
          <p:cNvSpPr txBox="1"/>
          <p:nvPr/>
        </p:nvSpPr>
        <p:spPr>
          <a:xfrm>
            <a:off x="571500" y="35242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Results &amp; Validation</a:t>
            </a:r>
            <a:endParaRPr/>
          </a:p>
        </p:txBody>
      </p:sp>
      <p:sp>
        <p:nvSpPr>
          <p:cNvPr id="520" name="Google Shape;520;p40"/>
          <p:cNvSpPr/>
          <p:nvPr/>
        </p:nvSpPr>
        <p:spPr>
          <a:xfrm>
            <a:off x="571500" y="937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5" name="Google Shape;5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1"/>
          <p:cNvSpPr txBox="1"/>
          <p:nvPr/>
        </p:nvSpPr>
        <p:spPr>
          <a:xfrm>
            <a:off x="1047750" y="2402383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same fuel-optimal strategy spans 5 hours to nearly 3 years.</a:t>
            </a:r>
            <a:endParaRPr/>
          </a:p>
        </p:txBody>
      </p:sp>
      <p:sp>
        <p:nvSpPr>
          <p:cNvPr id="527" name="Google Shape;527;p41"/>
          <p:cNvSpPr txBox="1"/>
          <p:nvPr/>
        </p:nvSpPr>
        <p:spPr>
          <a:xfrm>
            <a:off x="1047750" y="3432869"/>
            <a:ext cx="476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Distance is the dominant driver a direct result of Kepler's third law.</a:t>
            </a:r>
            <a:endParaRPr/>
          </a:p>
        </p:txBody>
      </p:sp>
      <p:sp>
        <p:nvSpPr>
          <p:cNvPr id="528" name="Google Shape;528;p41"/>
          <p:cNvSpPr txBox="1"/>
          <p:nvPr/>
        </p:nvSpPr>
        <p:spPr>
          <a:xfrm>
            <a:off x="1047750" y="4463355"/>
            <a:ext cx="476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Mission designers must balance fuel, time, and launch opportunities.</a:t>
            </a:r>
            <a:endParaRPr/>
          </a:p>
        </p:txBody>
      </p:sp>
      <p:pic>
        <p:nvPicPr>
          <p:cNvPr descr="image.png" id="529" name="Google Shape;52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905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0" name="Google Shape;53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9954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003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Travel Time Across Missions</a:t>
            </a:r>
            <a:endParaRPr/>
          </a:p>
        </p:txBody>
      </p:sp>
      <p:sp>
        <p:nvSpPr>
          <p:cNvPr id="533" name="Google Shape;533;p41"/>
          <p:cNvSpPr/>
          <p:nvPr/>
        </p:nvSpPr>
        <p:spPr>
          <a:xfrm>
            <a:off x="661600" y="1203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6435" y="2469050"/>
            <a:ext cx="5363192" cy="30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9" name="Google Shape;5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2"/>
          <p:cNvSpPr txBox="1"/>
          <p:nvPr/>
        </p:nvSpPr>
        <p:spPr>
          <a:xfrm>
            <a:off x="1047750" y="2679501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Communications &amp; weather satellites: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reach geostationary orbit via Hohmann.</a:t>
            </a:r>
            <a:endParaRPr/>
          </a:p>
        </p:txBody>
      </p:sp>
      <p:sp>
        <p:nvSpPr>
          <p:cNvPr id="541" name="Google Shape;541;p42"/>
          <p:cNvSpPr txBox="1"/>
          <p:nvPr/>
        </p:nvSpPr>
        <p:spPr>
          <a:xfrm>
            <a:off x="1047750" y="331380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Mars rovers &amp; probes: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launched on Hohmann-class interplanetary transfers.</a:t>
            </a:r>
            <a:endParaRPr/>
          </a:p>
        </p:txBody>
      </p:sp>
      <p:sp>
        <p:nvSpPr>
          <p:cNvPr id="542" name="Google Shape;542;p42"/>
          <p:cNvSpPr txBox="1"/>
          <p:nvPr/>
        </p:nvSpPr>
        <p:spPr>
          <a:xfrm>
            <a:off x="1047750" y="3948112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Crewed lunar missions: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translunar injection is the same principle.</a:t>
            </a:r>
            <a:endParaRPr/>
          </a:p>
        </p:txBody>
      </p:sp>
      <p:sp>
        <p:nvSpPr>
          <p:cNvPr id="543" name="Google Shape;543;p42"/>
          <p:cNvSpPr txBox="1"/>
          <p:nvPr/>
        </p:nvSpPr>
        <p:spPr>
          <a:xfrm>
            <a:off x="1047750" y="458241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Space sustainability: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graveyard disposal keeps orbits usable for the future.</a:t>
            </a:r>
            <a:endParaRPr/>
          </a:p>
        </p:txBody>
      </p:sp>
      <p:pic>
        <p:nvPicPr>
          <p:cNvPr descr="image.png" id="544" name="Google Shape;54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617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5" name="Google Shape;54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6" name="Google Shape;54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7" name="Google Shape;54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Why This Matters in the Real World</a:t>
            </a:r>
            <a:endParaRPr/>
          </a:p>
        </p:txBody>
      </p:sp>
      <p:sp>
        <p:nvSpPr>
          <p:cNvPr id="549" name="Google Shape;549;p42"/>
          <p:cNvSpPr/>
          <p:nvPr/>
        </p:nvSpPr>
        <p:spPr>
          <a:xfrm>
            <a:off x="642600" y="1213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4" name="Google Shape;5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3"/>
          <p:cNvSpPr txBox="1"/>
          <p:nvPr/>
        </p:nvSpPr>
        <p:spPr>
          <a:xfrm>
            <a:off x="571500" y="512058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Stating limits clearly is part of doing real science and shows where the model could grow.</a:t>
            </a:r>
            <a:endParaRPr/>
          </a:p>
        </p:txBody>
      </p:sp>
      <p:sp>
        <p:nvSpPr>
          <p:cNvPr id="556" name="Google Shape;556;p43"/>
          <p:cNvSpPr txBox="1"/>
          <p:nvPr/>
        </p:nvSpPr>
        <p:spPr>
          <a:xfrm>
            <a:off x="1047750" y="2297608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Burns are treated as instantaneous; real engines burn over time.</a:t>
            </a:r>
            <a:endParaRPr/>
          </a:p>
        </p:txBody>
      </p:sp>
      <p:sp>
        <p:nvSpPr>
          <p:cNvPr id="557" name="Google Shape;557;p43"/>
          <p:cNvSpPr txBox="1"/>
          <p:nvPr/>
        </p:nvSpPr>
        <p:spPr>
          <a:xfrm>
            <a:off x="1047750" y="2931914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Orbits assumed circular and in one plane (no inclination change).</a:t>
            </a:r>
            <a:endParaRPr/>
          </a:p>
        </p:txBody>
      </p:sp>
      <p:sp>
        <p:nvSpPr>
          <p:cNvPr id="558" name="Google Shape;558;p43"/>
          <p:cNvSpPr txBox="1"/>
          <p:nvPr/>
        </p:nvSpPr>
        <p:spPr>
          <a:xfrm>
            <a:off x="1047750" y="3566219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Interplanetary Δv is the </a:t>
            </a:r>
            <a:r>
              <a:rPr b="1" i="0" lang="en-US" sz="19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heliocentric transfer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value, not full mission Δv.</a:t>
            </a:r>
            <a:endParaRPr/>
          </a:p>
        </p:txBody>
      </p:sp>
      <p:sp>
        <p:nvSpPr>
          <p:cNvPr id="559" name="Google Shape;559;p43"/>
          <p:cNvSpPr txBox="1"/>
          <p:nvPr/>
        </p:nvSpPr>
        <p:spPr>
          <a:xfrm>
            <a:off x="1047750" y="4200525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No drag, oblateness, or third-body effects.</a:t>
            </a:r>
            <a:endParaRPr/>
          </a:p>
        </p:txBody>
      </p:sp>
      <p:pic>
        <p:nvPicPr>
          <p:cNvPr descr="image.png" id="560" name="Google Shape;56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4283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858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3289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6720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Honest Science: Limits &amp; Assumptions</a:t>
            </a:r>
            <a:endParaRPr/>
          </a:p>
        </p:txBody>
      </p:sp>
      <p:sp>
        <p:nvSpPr>
          <p:cNvPr id="565" name="Google Shape;565;p43"/>
          <p:cNvSpPr/>
          <p:nvPr/>
        </p:nvSpPr>
        <p:spPr>
          <a:xfrm>
            <a:off x="623600" y="11564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0" name="Google Shape;57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4"/>
          <p:cNvSpPr txBox="1"/>
          <p:nvPr/>
        </p:nvSpPr>
        <p:spPr>
          <a:xfrm>
            <a:off x="1047750" y="2679501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How a single equation (vis-viva) unlocks all of orbital motion.</a:t>
            </a:r>
            <a:endParaRPr/>
          </a:p>
        </p:txBody>
      </p:sp>
      <p:sp>
        <p:nvSpPr>
          <p:cNvPr id="572" name="Google Shape;572;p44"/>
          <p:cNvSpPr txBox="1"/>
          <p:nvPr/>
        </p:nvSpPr>
        <p:spPr>
          <a:xfrm>
            <a:off x="1047750" y="331380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Why fuel, time, and launch timing are deeply connected trade-offs.</a:t>
            </a:r>
            <a:endParaRPr/>
          </a:p>
        </p:txBody>
      </p:sp>
      <p:sp>
        <p:nvSpPr>
          <p:cNvPr id="573" name="Google Shape;573;p44"/>
          <p:cNvSpPr txBox="1"/>
          <p:nvPr/>
        </p:nvSpPr>
        <p:spPr>
          <a:xfrm>
            <a:off x="1047750" y="3948112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That a 100-year-old idea still governs modern spaceflight.</a:t>
            </a:r>
            <a:endParaRPr/>
          </a:p>
        </p:txBody>
      </p:sp>
      <p:sp>
        <p:nvSpPr>
          <p:cNvPr id="574" name="Google Shape;574;p44"/>
          <p:cNvSpPr txBox="1"/>
          <p:nvPr/>
        </p:nvSpPr>
        <p:spPr>
          <a:xfrm>
            <a:off x="1047750" y="4582417"/>
            <a:ext cx="10572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How to validate a physics model against real-world data.</a:t>
            </a:r>
            <a:endParaRPr/>
          </a:p>
        </p:txBody>
      </p:sp>
      <p:pic>
        <p:nvPicPr>
          <p:cNvPr descr="image.png" id="575" name="Google Shape;57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6176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6" name="Google Shape;57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048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7" name="Google Shape;57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8" name="Google Shape;57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909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What I Learned</a:t>
            </a:r>
            <a:endParaRPr/>
          </a:p>
        </p:txBody>
      </p:sp>
      <p:sp>
        <p:nvSpPr>
          <p:cNvPr id="580" name="Google Shape;580;p44"/>
          <p:cNvSpPr/>
          <p:nvPr/>
        </p:nvSpPr>
        <p:spPr>
          <a:xfrm>
            <a:off x="614125" y="1203987"/>
            <a:ext cx="857400" cy="573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5"/>
          <p:cNvSpPr txBox="1"/>
          <p:nvPr/>
        </p:nvSpPr>
        <p:spPr>
          <a:xfrm>
            <a:off x="571500" y="2476500"/>
            <a:ext cx="11049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C2340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  <a:endParaRPr b="1" sz="5400">
              <a:solidFill>
                <a:srgbClr val="0C23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87" name="Google Shape;587;p45"/>
          <p:cNvSpPr/>
          <p:nvPr/>
        </p:nvSpPr>
        <p:spPr>
          <a:xfrm>
            <a:off x="609600" y="342900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5"/>
          <p:cNvSpPr txBox="1"/>
          <p:nvPr/>
        </p:nvSpPr>
        <p:spPr>
          <a:xfrm>
            <a:off x="571500" y="3810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89" name="Google Shape;589;p45"/>
          <p:cNvSpPr txBox="1"/>
          <p:nvPr/>
        </p:nvSpPr>
        <p:spPr>
          <a:xfrm>
            <a:off x="571500" y="5715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endParaRPr b="0" sz="1600">
              <a:solidFill>
                <a:srgbClr val="64748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A high-quality, minimalist 3D render of a stylized satellite orbiting a planet, clean aesthetic, soft lighting, scientific mood." id="590" name="Google Shape;590;p45"/>
          <p:cNvPicPr preferRelativeResize="0"/>
          <p:nvPr/>
        </p:nvPicPr>
        <p:blipFill rotWithShape="1">
          <a:blip r:embed="rId5">
            <a:alphaModFix/>
          </a:blip>
          <a:srcRect b="4995" l="5004" r="4995" t="5004"/>
          <a:stretch/>
        </p:blipFill>
        <p:spPr>
          <a:xfrm>
            <a:off x="7810500" y="1714500"/>
            <a:ext cx="3429000" cy="3429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